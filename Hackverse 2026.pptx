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29DC-B708-AD98-DE1D-3D96AFBB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80EB4-C241-1FBB-F77F-65625ABFB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3AE7E-B48D-4EF5-BB0A-092FD758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31B91-0F6C-DD04-D44B-BF702638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63E7A-BD77-2336-413C-179E2C4A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8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97CC-B11D-0B3F-16F3-D1325B81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D02E7-D801-B18F-719F-1DB97F86F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6A4BB-5F68-B0D1-FC25-D5472C36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25C59-0F35-C57B-DE9F-A3A06175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D8AA6-411A-C39C-DCB3-22AF57A1A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24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CC97-988A-C1CA-893C-6FDFF869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D16D3-BDF4-89DD-F4A2-37CCE4114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BE8E1-3592-DF9E-09CA-86293F96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86A5-17C9-F3F9-9086-A2FA1E6B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EAB58-00F5-8424-D820-BDDD684A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48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8C71-CE78-F948-C6F7-D4113D8F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95476-C3B8-5207-BD0E-BEAF566A9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350B2-8DC0-C43B-0BB7-3AE6ECE71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4BE51-B6D4-F424-3152-175CB187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991CB-AB4B-2D37-8A7A-76D07FEF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0205B-1BC9-8275-FCCE-7659B5D3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15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A1EDE-93D2-34E4-5707-EF1FA091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DC715-5D90-A6D1-D55A-47EE64E45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BC405-8700-4F66-4C35-76F2D8C88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7AF8F-5631-4E6E-953A-4B84842D0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A814D-A58A-A136-E593-B436F2D26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2FE33-D0A8-7686-D4CF-FAE47E96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132B9-B6E6-36BC-04D2-FE4A687F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22C65-5331-5E59-0D2E-AAC04E86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10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FABC-096C-F819-8CDB-ED95EC57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7B7594-3275-B6C4-C0F8-C20FC301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726D9-2C58-8079-C154-0AE2897F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D5575E-67C5-95A2-C97D-18B62FC6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3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A74BB-11A1-C517-BCE4-35ECF8B9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1CBCB-04B5-7B8D-7720-B349DE123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7A0F4-2438-1A6F-8ECB-1818F292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392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E04C-F531-E984-3F5E-6238E571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A117F-CB7D-158C-521A-C16A7B722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2D7B1-5C7B-3C86-FA4C-381C92D7C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66B2B-E6BC-D229-24E1-D812B032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A821E-C9F9-D7BA-DF06-07AAB5E1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73B5D-2287-4CFB-9F85-54357718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5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B663-3175-F56C-BD30-E9003853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01B84-6322-31D3-65CB-987C5D640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0E342-88AD-7191-5809-337A0F94F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61FF5-A29D-204D-E2FA-CE13250E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38ED6-59F8-9587-6529-94CBF3E3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A00A6-BACB-4484-A33F-FC145D15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16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B0BB-C04F-AA57-C750-F90DCF25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F0856-F24C-179E-80DD-2EEECFD1C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7DBC-63D0-D8F8-90B4-64BCABD4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AB83-4970-A804-B7A4-FF746E2F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9288A-7242-9330-F712-29AF10B7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36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25330-7A13-BC65-B21E-1B315B5236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79258-D0F7-D417-0C67-BC0D32D13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2D0C5-4F6E-B0F8-5283-895F200D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14EB3-2956-AE96-0750-B00E36CB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40A29-E8DE-52DF-8ACA-0708744C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12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6F1A5-EF36-AD68-1353-39C560B9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E62C-A55F-F86F-0A82-C73165D9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3DC61-19E9-39E1-B36E-3A790536A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9BCD8-D6C2-406A-BF70-5F03D4B5E777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700F1-FE12-1ED8-A671-3A4157364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4E86A-D2F7-A7C5-2897-525B18543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85C0E-F320-4E3F-B5CA-12BCF40AF7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40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D085-C9DB-DE0B-D4C5-E4E3306E15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ClinsightAI</a:t>
            </a:r>
            <a:r>
              <a:rPr lang="en-US" dirty="0"/>
              <a:t> : </a:t>
            </a:r>
            <a:r>
              <a:rPr lang="en-US" i="1" dirty="0"/>
              <a:t>Transforming Unstructured Patient Feedback into Decision Intelligence.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10E89-74D3-94A8-3093-E059D33F1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Hi everyone, we are the team behind </a:t>
            </a:r>
            <a:r>
              <a:rPr lang="en-US" dirty="0" err="1"/>
              <a:t>ClinsightAI</a:t>
            </a:r>
            <a:r>
              <a:rPr lang="en-US" dirty="0"/>
              <a:t> Problem. Multi-location healthcare groups are drowning in unstructured patient reviews. They know patients are complaining, but they struggle to quantify the </a:t>
            </a:r>
            <a:r>
              <a:rPr lang="en-US" i="1" dirty="0"/>
              <a:t>financial impact</a:t>
            </a:r>
            <a:r>
              <a:rPr lang="en-US" dirty="0"/>
              <a:t> of those complaints or distinguish between a one-off bad day and a systemic operational failure. We built a platform to solve exactly that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26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7069-AD8E-11F4-D9B9-5069F270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Current Analytics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7B53D-F025-81CC-3090-0EC9EDA8E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Staff was incredibly friendly and I was seen within 15 minutes of arriving. – positive</a:t>
            </a:r>
          </a:p>
          <a:p>
            <a:r>
              <a:rPr lang="en-US" dirty="0"/>
              <a:t>Excellent care and attention to detail.- positive</a:t>
            </a:r>
          </a:p>
          <a:p>
            <a:r>
              <a:rPr lang="en-US" dirty="0"/>
              <a:t>They charged my copay and then referred me elsewhere. – </a:t>
            </a:r>
            <a:r>
              <a:rPr lang="en-IN" dirty="0"/>
              <a:t>negative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94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EE9B-5112-F53B-3598-7D2FB482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with </a:t>
            </a:r>
            <a:r>
              <a:rPr lang="en-US"/>
              <a:t>Current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A2B29-47EB-E461-9FCD-37C66B341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solutions rely on basic sentiment analysis telling a clinic they have 'negative' reviews. But 'negative' doesn't give a hospital administrator an action plan. Furthermore, trying to manually read and categorize thousands of reviews is impossible. We needed an AI system that didn't just read text, but extracted a quantified, prioritized business roadmap.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AD5F5-5ACA-6248-0EDA-A693A0E73984}"/>
              </a:ext>
            </a:extLst>
          </p:cNvPr>
          <p:cNvSpPr txBox="1"/>
          <p:nvPr/>
        </p:nvSpPr>
        <p:spPr>
          <a:xfrm>
            <a:off x="3048000" y="14671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Raw Data -&gt; LLM generates math -&gt; Hallucinated Stats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535C1-9D56-E9C1-999D-7DA2C1050E16}"/>
              </a:ext>
            </a:extLst>
          </p:cNvPr>
          <p:cNvSpPr txBox="1"/>
          <p:nvPr/>
        </p:nvSpPr>
        <p:spPr>
          <a:xfrm>
            <a:off x="2782529" y="668594"/>
            <a:ext cx="606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Model where the numerical features were generated by LLM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1A43D-5614-8061-BE56-3D99ED388617}"/>
              </a:ext>
            </a:extLst>
          </p:cNvPr>
          <p:cNvSpPr txBox="1"/>
          <p:nvPr/>
        </p:nvSpPr>
        <p:spPr>
          <a:xfrm>
            <a:off x="1488296" y="4255220"/>
            <a:ext cx="865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Model based on statistical/ Data science based approach to generate the numerical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BE5F7-968A-3752-03CD-EAB5E7C996DF}"/>
              </a:ext>
            </a:extLst>
          </p:cNvPr>
          <p:cNvSpPr txBox="1"/>
          <p:nvPr/>
        </p:nvSpPr>
        <p:spPr>
          <a:xfrm>
            <a:off x="340263" y="5053780"/>
            <a:ext cx="11798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Raw Data -&gt; Gemini 2.5 Flash (Semantic Extraction) -&gt; Python/Pandas (Deterministic Math)-&gt; Factual Dashboards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0738B-16B3-C296-6963-F0805870CEC1}"/>
              </a:ext>
            </a:extLst>
          </p:cNvPr>
          <p:cNvSpPr txBox="1"/>
          <p:nvPr/>
        </p:nvSpPr>
        <p:spPr>
          <a:xfrm>
            <a:off x="688258" y="2861187"/>
            <a:ext cx="11102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--------------------------------------------------------------------------------------------------------------------------------------------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834401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8204D8-08DF-F735-B05F-9A604C26A9E0}"/>
              </a:ext>
            </a:extLst>
          </p:cNvPr>
          <p:cNvSpPr txBox="1"/>
          <p:nvPr/>
        </p:nvSpPr>
        <p:spPr>
          <a:xfrm>
            <a:off x="619431" y="366446"/>
            <a:ext cx="110514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When we started, we took the standard hackathon approach: we fed all the reviews into a  LLM and asked it to calculate the frequency and severity of operational issues. We immediately hit a wall. LLMs are predictive text engines, not calculators; they hallucinated the statistics. To make this enterprise-ready, we engineered a hybrid pipeline. We use Gemini </a:t>
            </a:r>
            <a:r>
              <a:rPr lang="en-US" i="1" dirty="0"/>
              <a:t>strictly</a:t>
            </a:r>
            <a:r>
              <a:rPr lang="en-US" dirty="0"/>
              <a:t> to extract semantic themes and keyword boundaries, and then pass those parameters into a deterministic Python engine. Our system dynamically feature-engineers the dataset in real-time. The insights on our dashboard aren't LLM guesses they are rigorous, mathematically true statistics.</a:t>
            </a:r>
          </a:p>
          <a:p>
            <a:pPr algn="just"/>
            <a:r>
              <a:rPr lang="en-US" dirty="0"/>
              <a:t>This also cut the cost for the company that would have otherwise incurred for the each LLM call.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849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A9E-DEA9-5600-A72E-6E644FE5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&amp; Overcoming AI Hallucinations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594339-F293-ACDC-19B7-5824AE2D85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7904"/>
            <a:ext cx="5181600" cy="246677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82F09B-E889-A27D-5B56-C2AF5869F3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65765"/>
            <a:ext cx="5181600" cy="2471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CC3A9A-88F7-9A70-9FD8-7EED57606839}"/>
              </a:ext>
            </a:extLst>
          </p:cNvPr>
          <p:cNvSpPr txBox="1"/>
          <p:nvPr/>
        </p:nvSpPr>
        <p:spPr>
          <a:xfrm>
            <a:off x="1976284" y="5496232"/>
            <a:ext cx="3746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 with hallucinations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1A566-735C-A9CC-05FD-079B11442927}"/>
              </a:ext>
            </a:extLst>
          </p:cNvPr>
          <p:cNvSpPr txBox="1"/>
          <p:nvPr/>
        </p:nvSpPr>
        <p:spPr>
          <a:xfrm>
            <a:off x="6934775" y="5496232"/>
            <a:ext cx="365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Model based on statistical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793A57-EE81-0F44-A13C-AF6DECCBAD9E}"/>
              </a:ext>
            </a:extLst>
          </p:cNvPr>
          <p:cNvSpPr txBox="1"/>
          <p:nvPr/>
        </p:nvSpPr>
        <p:spPr>
          <a:xfrm>
            <a:off x="727587" y="6046839"/>
            <a:ext cx="5579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 -&gt; LLM generates math -&gt; Hallucinated Stats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42BFD-6467-BED3-8404-634EB474568A}"/>
              </a:ext>
            </a:extLst>
          </p:cNvPr>
          <p:cNvSpPr txBox="1"/>
          <p:nvPr/>
        </p:nvSpPr>
        <p:spPr>
          <a:xfrm>
            <a:off x="6469628" y="5865564"/>
            <a:ext cx="53309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 -&gt; Gemini 2.5 Flash (Semantic Extraction) </a:t>
            </a:r>
          </a:p>
          <a:p>
            <a:r>
              <a:rPr lang="en-US" dirty="0"/>
              <a:t>-&gt; Python/Pandas (Deterministic Math)</a:t>
            </a:r>
          </a:p>
          <a:p>
            <a:r>
              <a:rPr lang="en-US" dirty="0"/>
              <a:t> -&gt; Factual Dashboards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21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408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ClinsightAI : Transforming Unstructured Patient Feedback into Decision Intelligence.</vt:lpstr>
      <vt:lpstr>The Problem with Current Analytics</vt:lpstr>
      <vt:lpstr>The Problem with Current Solution</vt:lpstr>
      <vt:lpstr>PowerPoint Presentation</vt:lpstr>
      <vt:lpstr>PowerPoint Presentation</vt:lpstr>
      <vt:lpstr>The Architecture &amp; Overcoming AI Hallucinations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Adwait Bapat</dc:creator>
  <cp:lastModifiedBy>Adwait Bapat</cp:lastModifiedBy>
  <cp:revision>2</cp:revision>
  <dcterms:created xsi:type="dcterms:W3CDTF">2026-02-21T13:28:50Z</dcterms:created>
  <dcterms:modified xsi:type="dcterms:W3CDTF">2026-02-21T14:11:15Z</dcterms:modified>
</cp:coreProperties>
</file>